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8" r:id="rId10"/>
    <p:sldId id="270" r:id="rId11"/>
    <p:sldId id="263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2" pos="7469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orient="horz" pos="2319" userDrawn="1">
          <p15:clr>
            <a:srgbClr val="A4A3A4"/>
          </p15:clr>
        </p15:guide>
        <p15:guide id="5" orient="horz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6"/>
  </p:normalViewPr>
  <p:slideViewPr>
    <p:cSldViewPr snapToGrid="0">
      <p:cViewPr>
        <p:scale>
          <a:sx n="110" d="100"/>
          <a:sy n="110" d="100"/>
        </p:scale>
        <p:origin x="1064" y="624"/>
      </p:cViewPr>
      <p:guideLst>
        <p:guide orient="horz" pos="731"/>
        <p:guide pos="7469"/>
        <p:guide pos="211"/>
        <p:guide orient="horz" pos="2319"/>
        <p:guide orient="horz"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CB648-558D-B74A-A519-7B67CBA43224}" type="datetimeFigureOut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5C7DA-9354-5948-BB45-C75E6D8BD0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7287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5C7DA-9354-5948-BB45-C75E6D8BD0C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2392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0C94B-A5E4-8106-880D-DA9643788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60775C-0374-561B-4C3D-81EC4CBDC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B7E085-C72B-AB6C-6AFC-9CEDED8F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E34C-1874-1248-B061-ABF65AC27103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81A5B-808A-58DA-B759-DD560DEB9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81E9C3-78CD-C5E7-2B98-00930CEB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881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08110-BCE1-D2FC-8510-AB340BE5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722B1-E515-1A9C-8A67-2BABD32E8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C54BB0-9355-34A6-B03F-AFA71E4D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AD0-B1B0-B243-B846-21A4A43F8935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39964-EFAA-3EC6-E9A6-A81F64AB9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67A1F1-3CB5-FE43-440E-4771F2BF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04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D7E70-DD27-51A4-91D5-B871DE20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CDC701-2B1B-4A45-DD28-DF9600771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29F940-1F0D-24D3-60E0-C38590DE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FF8E-1621-764F-B95F-DA06B01DA40E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C60B8B-B3F3-F666-AEC2-0DA7DDC6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C7C5C7-7C86-08E3-9350-D4CA76F8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593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E47E4-6F2A-3748-7C34-B9A19564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43C637-A56B-91E8-5A3F-E1C03FFFE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0F70DB-FAB0-19E1-91AF-C36250250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C5FFF0-03B0-A83E-F6A7-0D7ADD7FD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00736-49D0-DA42-B44E-20BEB5C9366C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E8E486-F732-45C9-BE77-89A45F05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3A94BC-6C85-19D3-96B2-11038E152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52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13392-EFE1-3ED8-44A6-1DA708FC7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54DBA2-E2BF-18FB-94A8-84E40E5E8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96A81D-2251-E4CF-0940-57A9E8B9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5ED15E-CEC5-FAC2-AC2A-0CE8B61CA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79656F-516A-DC6C-E287-0439833B4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4B877A-7486-2AC0-26CD-EF7E679C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9257-61FE-CE43-B15E-87E2486C2F5B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8CEA8C-569E-5722-0557-F57EE691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D2056D-06AB-D1A4-139A-372F3236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4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0C18A-7C6D-BEEF-CA53-2BA30A5C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BEEA80-0840-1334-979A-264340E4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05EB-2D2D-114E-83A6-47E29DF5A6F2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8330D3-621E-851A-ABA3-3C649A8A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167D03-0497-687F-E36D-D3C94D77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732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BDBBB0-DBFF-E23A-F221-6A398235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390C-2FA1-E843-A478-F366BC1851A4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9C5889-4AB7-E5D9-FD93-E1C01FB8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E0F2A-6F6C-7AED-58F2-D3D06337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000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7E833-2241-19FC-0F84-159E0121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407072-8726-E9A6-28BB-F93909A06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751F1B-6602-4600-2B42-E866F2A79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E299CB-790E-73F4-D170-A73DD1F8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EB0B9-B7EF-1F4C-8D56-885CA8C9EA12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4AD196-C462-E8D0-1C24-39EF0C67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BDBA20-1378-3BB4-7624-9F3D35C9C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183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9A215-28FC-10F3-5D9E-E0323178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6C2050-AAFE-A39F-0FEB-74A341877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1AC198-5372-DBB1-C549-E2CC4FCE9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DE0FFC-6E2A-3AC0-9F40-49B648BB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8590F-8555-D643-8E05-C025C0AF12BB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3B557D-2BDE-8FD4-88F2-14F430762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534E4D-D540-4C8E-E8E5-D4245DF7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4420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29694-0869-E88D-77F0-F659C663B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8B7732-784F-22C2-C6F7-D38C01664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669B55-E4EB-84F3-C39B-FBF810584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1FD8-4791-5A47-9E0A-EF1CBBF9689D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697EF-EFDA-FA51-CC50-D171A681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179E46-B1F3-2292-947C-0FE358DD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4111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FB1061-4961-6DD7-1C88-50A749642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139E15-8CD1-8762-5795-297AF19B3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81F23-D63B-8604-1E0F-DC4FFBF4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EDE-41B2-4E49-84EB-642A680B0B93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B3E03-D903-E32D-F0D8-3E1A991A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38AC79-F5EA-F6A8-01F1-2BF5C9CC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446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8AF19C-9E84-A52C-0F21-F9FFF035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62AA9C-F525-8AA3-A50F-B6E2C68D0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0AEACD-8BC9-46BC-E7C0-4F436E002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66738-80F9-CE4E-9FF5-50EACC8F33F4}" type="datetime1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D4DEA-FA45-AE1E-655B-C56FAA075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en" altLang="zh-CN"/>
              <a:t>Yuhao Huo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012ADC-5A50-7ADC-B0C6-3227D7CAB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DCE28-C5FF-EE47-9DDA-8002F10F32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091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B6F7693-6416-DFFE-D6FC-2A37477EE429}"/>
              </a:ext>
            </a:extLst>
          </p:cNvPr>
          <p:cNvGrpSpPr/>
          <p:nvPr/>
        </p:nvGrpSpPr>
        <p:grpSpPr>
          <a:xfrm rot="10800000">
            <a:off x="-1" y="-11"/>
            <a:ext cx="12192001" cy="6858010"/>
            <a:chOff x="0" y="-1"/>
            <a:chExt cx="12192001" cy="160020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BA8F3A2-B104-B7EA-DE7E-A55C9F96653A}"/>
                </a:ext>
              </a:extLst>
            </p:cNvPr>
            <p:cNvSpPr/>
            <p:nvPr/>
          </p:nvSpPr>
          <p:spPr>
            <a:xfrm>
              <a:off x="0" y="1"/>
              <a:ext cx="12192000" cy="16002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" name="直角三角形 4">
              <a:extLst>
                <a:ext uri="{FF2B5EF4-FFF2-40B4-BE49-F238E27FC236}">
                  <a16:creationId xmlns:a16="http://schemas.microsoft.com/office/drawing/2014/main" id="{1E4D527F-08A1-08DF-DACA-27C410B8C8C9}"/>
                </a:ext>
              </a:extLst>
            </p:cNvPr>
            <p:cNvSpPr/>
            <p:nvPr/>
          </p:nvSpPr>
          <p:spPr>
            <a:xfrm rot="10800000">
              <a:off x="2168324" y="2"/>
              <a:ext cx="3927676" cy="1600201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D88CD8D-2259-1986-70EC-81891BD8138D}"/>
                </a:ext>
              </a:extLst>
            </p:cNvPr>
            <p:cNvSpPr/>
            <p:nvPr/>
          </p:nvSpPr>
          <p:spPr>
            <a:xfrm>
              <a:off x="5900058" y="-1"/>
              <a:ext cx="6291943" cy="1600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F54A69B-553C-BFC1-3E51-ABEA95033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058" y="2472894"/>
            <a:ext cx="7326217" cy="1172006"/>
          </a:xfrm>
        </p:spPr>
        <p:txBody>
          <a:bodyPr>
            <a:normAutofit/>
          </a:bodyPr>
          <a:lstStyle/>
          <a:p>
            <a:pPr algn="l"/>
            <a:r>
              <a:rPr lang="en" altLang="zh-CN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Forecasting Inflation in a Big Data Setting Using Neural Networks</a:t>
            </a:r>
            <a:endParaRPr kumimoji="1" lang="zh-CN" altLang="en-US" sz="3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0C3A08-27DA-EDAB-7EE3-F57B87A92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058" y="3944603"/>
            <a:ext cx="2690532" cy="985158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Yuhao Huo</a:t>
            </a:r>
          </a:p>
          <a:p>
            <a:pPr algn="l"/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yh620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68B75893-2DEB-F36E-8A68-45BD860F0BC5}"/>
              </a:ext>
            </a:extLst>
          </p:cNvPr>
          <p:cNvSpPr txBox="1">
            <a:spLocks/>
          </p:cNvSpPr>
          <p:nvPr/>
        </p:nvSpPr>
        <p:spPr>
          <a:xfrm>
            <a:off x="1007905" y="4488609"/>
            <a:ext cx="1847161" cy="441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93AE96A9-AD1D-CF35-709C-DF23598D9908}"/>
              </a:ext>
            </a:extLst>
          </p:cNvPr>
          <p:cNvSpPr/>
          <p:nvPr/>
        </p:nvSpPr>
        <p:spPr>
          <a:xfrm rot="10800000">
            <a:off x="2855066" y="-21"/>
            <a:ext cx="9336933" cy="3429019"/>
          </a:xfrm>
          <a:prstGeom prst="rt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42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8"/>
    </mc:Choice>
    <mc:Fallback xmlns="">
      <p:transition spd="slow" advTm="61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EE47ABC-10DF-9627-AAAB-37663D89294A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17A40F3-4926-9060-AFE9-F20C10743A76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51D010A2-1506-008A-5B85-3E27B7650D5A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459F296-D04A-D4FF-899F-41BEFE5B8597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6F06971F-FA3B-1EAA-5868-8B8A3EC43754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1EBDC694-054E-EF9C-D127-5F041F13FA1F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 &amp; Literature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5CA7E7E0-41F0-73B0-BA68-50582ABE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CB9958B5-2805-78DA-2A64-8398F9612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8939C694-6FAE-8528-2792-1D037A34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2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FE2FAB-CFC8-2564-E62E-375256B155FE}"/>
              </a:ext>
            </a:extLst>
          </p:cNvPr>
          <p:cNvSpPr txBox="1"/>
          <p:nvPr/>
        </p:nvSpPr>
        <p:spPr>
          <a:xfrm>
            <a:off x="334963" y="1158332"/>
            <a:ext cx="115220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Forecasting inflation is essential for decision making by firms, investors, and central banks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Time-series econometrics often relies on linear models, which may suffer from over-fitting &amp; fail to capture non-linearity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methods, such as neural networks, may provide robust predictions in high-dimensional, non-linear settings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BFC8C7-B474-F4C0-0A2C-20DD87B0B4C9}"/>
              </a:ext>
            </a:extLst>
          </p:cNvPr>
          <p:cNvSpPr txBox="1"/>
          <p:nvPr/>
        </p:nvSpPr>
        <p:spPr>
          <a:xfrm>
            <a:off x="334962" y="2399506"/>
            <a:ext cx="115220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 Literature: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Univariate methods: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Lagged inflations as predictors, initially found difficult to beat (Stock &amp; Watson, 2010)</a:t>
            </a:r>
            <a:endParaRPr lang="en" altLang="zh-CN" sz="16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methods: </a:t>
            </a:r>
            <a:endParaRPr lang="en" altLang="zh-CN" sz="1600" b="1" i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ML and large macro datasets, multivariate models began to achieve systematic gains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LASSO: outperforms AR in US CPI inflation forecasting (Medeiros &amp; Mendes 2016)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forest: outperforms univariate benchmark, LASSO, and Bayesian VAR (Medeiros et al. 2021)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 &amp; non-parametric methods appear to perform better: how about using neural networks?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networks:</a:t>
            </a:r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FNN and LSTM improve performance relative to AR (Andresen, 2023 and Paranhos, 2025)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 usually achieves better performance than FNN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Multivariate FNN and LSTM also outperform their univariate counterparts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LSTM does not systematically outperform random forest</a:t>
            </a:r>
          </a:p>
        </p:txBody>
      </p:sp>
    </p:spTree>
    <p:extLst>
      <p:ext uri="{BB962C8B-B14F-4D97-AF65-F5344CB8AC3E}">
        <p14:creationId xmlns:p14="http://schemas.microsoft.com/office/powerpoint/2010/main" val="303803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962D1-25DA-7A74-59B6-9F951934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9178043-A3DB-C596-04A1-3640C6693A80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4F2786F-315E-C88F-CD87-47C9DA76F36A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6EE45556-A705-2F56-381D-DFF0A703F10A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78659AB-AF66-FD17-531B-6E9CA7F925B2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1111C32B-FD9A-C1C5-C8C2-14AB4D721880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9B886169-DF5C-EC09-4850-66F59ED1E7B6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257FD258-3CAD-EE3B-BDBD-0160F21C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BFAFC1BE-16D7-5B04-28C7-445FC1F7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01FF3CE-AE9E-CF66-6D74-B466B345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3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D373FF-1406-6571-CF44-A3D88008E18D}"/>
              </a:ext>
            </a:extLst>
          </p:cNvPr>
          <p:cNvSpPr txBox="1"/>
          <p:nvPr/>
        </p:nvSpPr>
        <p:spPr>
          <a:xfrm>
            <a:off x="334964" y="1158332"/>
            <a:ext cx="59931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FRED-MD Database: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monthly macroeconomic database with 126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802 observations from Mar 1959 to Dec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variable</a:t>
            </a:r>
            <a:r>
              <a:rPr lang="en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difference of CPI all-item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other series are transformed to achieve stationary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Series with &gt; 10% missing values are dropped (4 series)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416890-386B-398A-BCEA-11D9F80B50E6}"/>
              </a:ext>
            </a:extLst>
          </p:cNvPr>
          <p:cNvSpPr txBox="1"/>
          <p:nvPr/>
        </p:nvSpPr>
        <p:spPr>
          <a:xfrm>
            <a:off x="334963" y="4061500"/>
            <a:ext cx="1152207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values (mostly around 0.05%) are imputed using 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Sciki-learn’s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iterative imputer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 component analysis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(PCA) is applied to all series to extract 10 principal components because: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Macro-economics series are usually correlated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sample has too many dimensions relative to number of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10 PCs and the inflation rate are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min-max scaled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[0, 1], as LSTM performs better at this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transformations are fitted on training set &amp; applied to the full sample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2BFF7C-79A8-6C7B-8C10-1939D7CFF920}"/>
              </a:ext>
            </a:extLst>
          </p:cNvPr>
          <p:cNvSpPr txBox="1"/>
          <p:nvPr/>
        </p:nvSpPr>
        <p:spPr>
          <a:xfrm>
            <a:off x="334963" y="2979248"/>
            <a:ext cx="509254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&amp; Test Split: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sample: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 1959 to Jul 2012 (80% 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sample: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 2012 to Dec 2025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423F889-3B46-20D0-94A9-4F693B3D4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148" y="1434316"/>
            <a:ext cx="5620215" cy="2901035"/>
          </a:xfrm>
          <a:prstGeom prst="rect">
            <a:avLst/>
          </a:prstGeom>
        </p:spPr>
      </p:pic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91E307C1-1A83-8386-8E39-01ADE598D07C}"/>
              </a:ext>
            </a:extLst>
          </p:cNvPr>
          <p:cNvCxnSpPr>
            <a:cxnSpLocks/>
          </p:cNvCxnSpPr>
          <p:nvPr/>
        </p:nvCxnSpPr>
        <p:spPr>
          <a:xfrm flipV="1">
            <a:off x="10424886" y="1520042"/>
            <a:ext cx="0" cy="247600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6FA06A78-EB50-7BDC-DEB8-1756C8504694}"/>
              </a:ext>
            </a:extLst>
          </p:cNvPr>
          <p:cNvSpPr txBox="1"/>
          <p:nvPr/>
        </p:nvSpPr>
        <p:spPr>
          <a:xfrm>
            <a:off x="8316689" y="1212264"/>
            <a:ext cx="587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  <a:endParaRPr lang="zh-CN" altLang="en-US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6B88FA-3070-3E03-5FE5-1129F3D12041}"/>
              </a:ext>
            </a:extLst>
          </p:cNvPr>
          <p:cNvSpPr txBox="1"/>
          <p:nvPr/>
        </p:nvSpPr>
        <p:spPr>
          <a:xfrm>
            <a:off x="10816613" y="1212265"/>
            <a:ext cx="587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lang="zh-CN" altLang="en-US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71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4DE1B-95DB-4CA3-9159-F6050DD9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2C5EA00-F8CA-E7D3-7748-B30B78849B6D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125B0F8-75EF-80E1-0406-7026617381C6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669C6B2D-9C84-96CF-91A3-DCC54E879055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22A60EB-DC60-D3A3-B0F5-81CB8C1BF286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EA11EAB1-AD30-E97E-5C4A-61B829A6DEBE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D9F431E-3BB4-2001-60E2-A8FA84B0F1A6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7C22CAC0-8BC9-9FC3-CDB3-CA0EA67A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913135D4-2F56-E56A-AD78-DFF0D880E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FAF290A-C7D9-CAB4-8437-082E50AB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4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91ECF2-6028-75C6-5620-9F4E455072D6}"/>
              </a:ext>
            </a:extLst>
          </p:cNvPr>
          <p:cNvSpPr txBox="1"/>
          <p:nvPr/>
        </p:nvSpPr>
        <p:spPr>
          <a:xfrm>
            <a:off x="334964" y="1158332"/>
            <a:ext cx="1152207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Forecasting Methodology: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Indirect forecasting: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One-step-ahead forecasting,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result is then used as predictor for two-step-ahead forecasting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Iterates recursively to reach h-step-ahead forecast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forecasting: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estimates a separate model for each forecast horizon 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Indirect forecasting is more efficient under correct specification, but requires forecasting the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Therefore, this research adopts direct forecasting and estimates a separate model for each horizon in [1, 3, 6, 12, 24]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769CC0-AE02-7228-E420-2889719F70B9}"/>
              </a:ext>
            </a:extLst>
          </p:cNvPr>
          <p:cNvSpPr txBox="1"/>
          <p:nvPr/>
        </p:nvSpPr>
        <p:spPr>
          <a:xfrm>
            <a:off x="334963" y="3429000"/>
            <a:ext cx="6572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Feedforward Neural Network: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fully connected neural network with one hidden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y: inflation at period 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x: k-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principal component at period 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N: number of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P: number of lags of inflation included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number of lags of principal component included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5D0F043-E177-AEAA-675F-66ED821E72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65" b="9808"/>
          <a:stretch>
            <a:fillRect/>
          </a:stretch>
        </p:blipFill>
        <p:spPr>
          <a:xfrm>
            <a:off x="654222" y="4044329"/>
            <a:ext cx="5441778" cy="6773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9059FEE-A12E-C675-D59E-F7E17B0B9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7690" y="3698057"/>
            <a:ext cx="5220088" cy="247300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E7BFC3D-7840-1863-AB35-105412817B44}"/>
              </a:ext>
            </a:extLst>
          </p:cNvPr>
          <p:cNvSpPr txBox="1"/>
          <p:nvPr/>
        </p:nvSpPr>
        <p:spPr>
          <a:xfrm>
            <a:off x="7596828" y="3390280"/>
            <a:ext cx="2661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= 11, Q = 0 , Input Dim = 22</a:t>
            </a:r>
            <a:endParaRPr kumimoji="1" lang="zh-CN" altLang="en-US" sz="14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754608-D697-45DF-927E-CAECC1B40F90}"/>
              </a:ext>
            </a:extLst>
          </p:cNvPr>
          <p:cNvSpPr txBox="1"/>
          <p:nvPr/>
        </p:nvSpPr>
        <p:spPr>
          <a:xfrm>
            <a:off x="10886121" y="4780672"/>
            <a:ext cx="873348" cy="318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16</a:t>
            </a:r>
            <a:endParaRPr kumimoji="1" lang="zh-CN" altLang="en-US" sz="14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49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BCFF-6D98-6DA0-1995-BAFEBECED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01D46E1-BE7A-F5A0-B992-A7070FF22E1B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7C861B5-7C4F-2CAC-B25D-B3E4D8BA94E4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CAEA0381-7FF0-B024-DA3B-FC96594876E1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7D480EE-E916-DFE2-1462-4ACD555978DE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BF6EFF56-902D-DDF6-5550-AD6889FB211F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8422CCD5-1813-943F-BB1B-14EBB3E1DB86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EE4DB6FD-5795-E83A-1F81-F7441D7A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C0A25C9E-419C-B0B6-F8F2-5DA2604D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C6960304-AB6E-4F0C-4798-77DDDF40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5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9F5528C-D858-D802-A1AB-F32A5E04FB0B}"/>
              </a:ext>
            </a:extLst>
          </p:cNvPr>
          <p:cNvSpPr txBox="1"/>
          <p:nvPr/>
        </p:nvSpPr>
        <p:spPr>
          <a:xfrm>
            <a:off x="334964" y="1158332"/>
            <a:ext cx="1152207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Short-Term Memory: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type of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takes a sequence of observations as input, the length of the input sequence is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 encodes each observation in an input sequence into a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hidden state of an observation depends on its features and the previous hidden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 uses the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hidden state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an input sequence to predict the target (h-step-ahead inflation 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RNN suffers from the vanishing gradient problem when the input sequence is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 addresses this by introducing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 state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1600" b="1" i="1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1600" b="1" i="1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1600" b="1" i="1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1600" b="1" i="1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1600" b="1" i="1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forget gate, outputs a proportion in [0, 1], controls how much of the previous cell state pass to current cell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gate, controls how much of the scaled combination of input is retained in current cell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gate, controls how much of current cell state is mapped to current hidden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scaled combination of input features and previous hidden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state, passes through a one-layer FNN to form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variable, h-step-ahead inflation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X: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of inflation and PCs at time t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AB5231B-5233-3131-759D-5AA069C4F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09141"/>
            <a:ext cx="7772400" cy="107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3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2DF3-3D46-E257-E7FA-FAA1DCD42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DAE3507-2637-30A2-B8B3-8EC2928FA1DE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599C63-2746-1B2D-5BDD-A8173DC83D46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AD51009B-A47A-221B-3274-7FB295AD8A0F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9C071-DAC9-B961-6A77-0783EF782605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956B7AA4-D01D-0159-D2F0-6AAF6EC33589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80CCF21B-DDF6-13A4-2A75-3940474F237E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&amp; Tuning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C3453310-6051-0A5F-6582-26B64B93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29A5748D-5A5F-B093-26D0-6B27FA51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7718826C-C4D4-D583-0443-0A8EC585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6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1A0EEC-017E-3EAD-0EE2-9CA41EF64E3D}"/>
              </a:ext>
            </a:extLst>
          </p:cNvPr>
          <p:cNvSpPr txBox="1"/>
          <p:nvPr/>
        </p:nvSpPr>
        <p:spPr>
          <a:xfrm>
            <a:off x="334962" y="3708852"/>
            <a:ext cx="587872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Fine-tuning Hyper-parameters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Hyper-parameters are selected using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each set of hyper-parameters, evaluate cross-validation loss,  the set with lowest CV loss is optimal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 in time series: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training sample into 5 chronological folds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each fold, train model on observations up to that fold and evaluate on subsequent fold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MSE across folds to obtain CV loss</a:t>
            </a:r>
          </a:p>
          <a:p>
            <a:endParaRPr lang="en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76DB474-D632-BE5F-A198-D9D20462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342" y="2097608"/>
            <a:ext cx="5522694" cy="328975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CD39B06-8FA7-C30E-6E62-85F4AEAB44FB}"/>
              </a:ext>
            </a:extLst>
          </p:cNvPr>
          <p:cNvSpPr txBox="1"/>
          <p:nvPr/>
        </p:nvSpPr>
        <p:spPr>
          <a:xfrm>
            <a:off x="334962" y="1160463"/>
            <a:ext cx="115220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Benchmark Models: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AR, ARDL, LASSO, random forest, and LGBM</a:t>
            </a:r>
            <a:endParaRPr lang="en" altLang="zh-CN" sz="1600" b="1" i="1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D6F74B-1864-8841-A6A6-1A618DB5EEE1}"/>
              </a:ext>
            </a:extLst>
          </p:cNvPr>
          <p:cNvSpPr txBox="1"/>
          <p:nvPr/>
        </p:nvSpPr>
        <p:spPr>
          <a:xfrm>
            <a:off x="334962" y="1930220"/>
            <a:ext cx="587872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function: mean squared error (MSE)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neural networks: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updated by Adam optimization algorithm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size = 128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 out rate = 0.2</a:t>
            </a:r>
            <a:endParaRPr lang="en" altLang="zh-CN" sz="1600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88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5476-272F-83D4-B8CD-BD66052C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C5DDDEB-86E9-CAD6-EF91-F8DF9C717525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8971590-0713-1FAE-70E1-5B8D710F761F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C1722000-6D5F-2C52-980D-7BEA55A7E045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85CF60F-DDDB-36F4-5B2C-7EEDD887D7F3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A425DB8-5E2D-CF14-E9BD-31537B43FBCD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750C17AE-C151-311B-EC0E-8A5828C9C197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Forecasting Performance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9F84DA7E-111B-796C-0ACB-0DFE9ADE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128DC254-790A-D478-C984-702F6526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652BB86B-FBC0-60E0-3C54-D42B9E98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7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C65E78-B0CC-20E3-2E74-6AEC30F1B81A}"/>
              </a:ext>
            </a:extLst>
          </p:cNvPr>
          <p:cNvSpPr txBox="1"/>
          <p:nvPr/>
        </p:nvSpPr>
        <p:spPr>
          <a:xfrm>
            <a:off x="334964" y="1158332"/>
            <a:ext cx="68094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Forecasting with Ensembles: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networks are sensible to initial values (Paranhos,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 20 NNs with different initial values and ensemble them to form predictions for each horizon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F809DB-B550-28CC-C23D-F0210B728D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7"/>
          <a:stretch>
            <a:fillRect/>
          </a:stretch>
        </p:blipFill>
        <p:spPr>
          <a:xfrm>
            <a:off x="1253636" y="4032109"/>
            <a:ext cx="4964912" cy="21661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B5992F-122E-CD4F-8620-50B14726B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439" y="1155184"/>
            <a:ext cx="4712599" cy="24615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CB83459-4B97-F750-67CD-2248DEF8F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439" y="3631237"/>
            <a:ext cx="4712600" cy="246159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3DC5E4A-DA46-4843-57DA-2015667F2F5A}"/>
              </a:ext>
            </a:extLst>
          </p:cNvPr>
          <p:cNvSpPr txBox="1"/>
          <p:nvPr/>
        </p:nvSpPr>
        <p:spPr>
          <a:xfrm>
            <a:off x="334964" y="2329122"/>
            <a:ext cx="680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Evaluated using </a:t>
            </a:r>
            <a:r>
              <a:rPr lang="en" altLang="zh-CN" sz="16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RMSE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relative to 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Univariate benchmark AR outperforms ARDL and ML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FNN outperforms AR at short forecasting horizons (1 to 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 outperforms AR at longer horizons (3 to 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FNN outperforms LSTM at h=1, but performs worse at longer horizons</a:t>
            </a:r>
          </a:p>
        </p:txBody>
      </p:sp>
    </p:spTree>
    <p:extLst>
      <p:ext uri="{BB962C8B-B14F-4D97-AF65-F5344CB8AC3E}">
        <p14:creationId xmlns:p14="http://schemas.microsoft.com/office/powerpoint/2010/main" val="40263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EA4-8940-5CEC-0D27-20AD054E0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52155FD-C1C8-8E33-1EE3-B74B94D89C79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1CAE7EF-B5C6-37DA-116D-AE99AACB019F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9282B1C3-0CFF-B8F5-E77E-35C9B1FBEC9C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173609D-EF13-A68F-37A8-AFDE0A2CC8F1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192ECE0A-3250-F5A2-04AA-10D2077203C5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6243350-3BFD-86DA-8FDD-9FAC4D43138A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Period Ahead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576A20E1-0248-8ED9-52E0-0FE41FBD0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9EA683E7-E41D-B158-8726-72DF4C93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14FAACBF-17C7-1872-04E3-A9831136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8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4D12AC-031F-7D4C-40E0-009585353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10" y="1178719"/>
            <a:ext cx="9442780" cy="493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4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67D86-3766-0CB4-FB40-3FE44C94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46073AB1-6890-CFB8-2688-1D4935034494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0E776E5-5723-BC04-581A-20299D84ECD0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31A1695A-1E26-ED82-2289-2E0106FC68DA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2EBA430-A2F6-B079-1FF7-7AE2618F854C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17452C65-3B57-1840-F6FD-9F5BDE69E07C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11D65D80-2E03-EF08-7221-B7C8D63AE44C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Periods Ahead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FB9CE82A-41DA-F3A2-FB66-353B4A19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317D961F-8D17-9DFC-B89C-0235EF8FD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5DC524DC-BA96-F2EB-6C68-AAD46DD4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9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0D8BD5-68C9-2FA4-B05B-2D5E25DE0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10" y="1178718"/>
            <a:ext cx="9442780" cy="493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3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0D315-34D6-5564-91C0-DD21C0704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8F84B4A-5B77-30DD-BAA4-F3E29D036CB6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0A2D7F1-DC6C-6D73-7621-DF934071CE36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E7897258-73EC-6A4E-B076-93BDF035BAD0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FF8EAAF-410B-3901-8235-653AD3F97F27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3E88461B-2DF0-A488-E56D-CD0438C065B3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E966257-A6EE-9C74-0995-191E8E641102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DE7644FF-4210-FB80-034D-6B3B18F5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9B0A8956-138B-C84C-893B-B6F428E8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0C745797-EFAC-B7BE-2F52-25B9A775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10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98BAEB-44A4-9767-3534-5200E9F97999}"/>
              </a:ext>
            </a:extLst>
          </p:cNvPr>
          <p:cNvSpPr txBox="1"/>
          <p:nvPr/>
        </p:nvSpPr>
        <p:spPr>
          <a:xfrm>
            <a:off x="334963" y="1255816"/>
            <a:ext cx="115220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simple FNN outperforms more complex neural network (LSTM) and univariate model in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one-step-ahead</a:t>
            </a:r>
            <a:r>
              <a:rPr lang="en" altLang="zh-CN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Fine-tuned LSTM perform especially well at </a:t>
            </a:r>
            <a:r>
              <a:rPr lang="en" altLang="zh-CN" sz="16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longer horizons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FNN and LSTM can be combined to achieve superior forecasting performance across short and long horizons</a:t>
            </a:r>
            <a:endParaRPr lang="en" altLang="zh-CN" sz="16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A4F45D-7D14-9D7E-7EA6-157C1EFE0D7E}"/>
              </a:ext>
            </a:extLst>
          </p:cNvPr>
          <p:cNvSpPr txBox="1"/>
          <p:nvPr/>
        </p:nvSpPr>
        <p:spPr>
          <a:xfrm>
            <a:off x="334963" y="2567689"/>
            <a:ext cx="1152207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networks are not as interpretable as linear models (AR)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to time limitations, this research does not apply grid search to all hyper-parameters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Cross-validation losses are computed based on one NN initialization for each 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Ideally, multiple initializations should be used for each fold to ensure stability</a:t>
            </a:r>
          </a:p>
        </p:txBody>
      </p:sp>
    </p:spTree>
    <p:extLst>
      <p:ext uri="{BB962C8B-B14F-4D97-AF65-F5344CB8AC3E}">
        <p14:creationId xmlns:p14="http://schemas.microsoft.com/office/powerpoint/2010/main" val="249608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0C9C-F8CA-0EF8-961C-589A4EBC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FA97A2B-64F2-D466-C028-C475F12254D0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2D9EB19-B76C-36ED-A7BB-65E0F259E17C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692C7688-EE59-C8DD-F4B5-5ACB4FC4D782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0CD2DE9-E1FC-9B36-55E5-3C3D73BC27DF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44A13E5-4247-A39E-0357-A5768B4B890B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2652CEB1-7357-ABB4-D16E-167F13B7B173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2ABC4914-CC7D-CF61-8E03-511FF3F5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8D26D6FE-8097-A558-E66B-97423A87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CD761C79-9CBD-1C2A-F21E-516AC865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11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C297771-3EEA-E0BC-9AC8-DE10A1379FE1}"/>
              </a:ext>
            </a:extLst>
          </p:cNvPr>
          <p:cNvSpPr txBox="1"/>
          <p:nvPr/>
        </p:nvSpPr>
        <p:spPr>
          <a:xfrm>
            <a:off x="334964" y="1158332"/>
            <a:ext cx="115220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1] 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Almosova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A., \&amp; Andresen, N. (2023). Nonlinear inflation forecasting with recurrent neural networks. Journal of Forecasting, 42(2), 240–259.</a:t>
            </a:r>
          </a:p>
          <a:p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Bredahl Kock, A., \&amp; 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Teräsvirta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T. (2016). Forecasting Macroeconomic Variables Using Neural Network Models and Three Automated Model Selection Techniques. Econometric Reviews, 35(8–10), 1753–1779.</a:t>
            </a:r>
          </a:p>
          <a:p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Marcellino, M. G., Stock, J. H., \&amp; Watson, M. W. (2005). A Comparison of Direct and Iterated Multistep 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Methods for Forecasting Macroeconomic Time Series (SSRN Scholarly Paper No. 771945). Social Science Research Network.</a:t>
            </a:r>
          </a:p>
          <a:p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 Masini, R. P., Medeiros, M. C., \&amp; Mendes, E. F. (2023). Machine learning advances for time series forecasting. Journal of Economic Surveys, 37(1), 76–111.</a:t>
            </a:r>
          </a:p>
          <a:p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[5] McCracken, M. W., \&amp; Ng, S. (2016). FRED-MD: A Monthly Database for Macroeconomic Research. Journal of Business \&amp; Economic Statistics, 34(4), 574–589.</a:t>
            </a:r>
          </a:p>
          <a:p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[6] Medeiros, M. C., \&amp; Mendes, E. F. (2016). L1-regularization of high-dimensional time-series models with non-Gaussian and heteroskedastic errors. Journal of Econometrics, 191(1), 255–271.</a:t>
            </a:r>
          </a:p>
          <a:p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[7] Medeiros, M. C., Vasconcelos, G. F. R., Veiga, 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., \&amp; Zilberman, E. (2021). Forecasting Inflation in a Data-Rich Environment: The Benefits of Machine Learning Methods. Journal of Business \&amp; Economic Statistics, 39(1), 98–119.</a:t>
            </a:r>
          </a:p>
        </p:txBody>
      </p:sp>
    </p:spTree>
    <p:extLst>
      <p:ext uri="{BB962C8B-B14F-4D97-AF65-F5344CB8AC3E}">
        <p14:creationId xmlns:p14="http://schemas.microsoft.com/office/powerpoint/2010/main" val="105171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0947B-8A57-47E1-EE7C-3D810AF8A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C92C3C5-1CCA-F089-156A-A1BA8578FE2A}"/>
              </a:ext>
            </a:extLst>
          </p:cNvPr>
          <p:cNvGrpSpPr/>
          <p:nvPr/>
        </p:nvGrpSpPr>
        <p:grpSpPr>
          <a:xfrm>
            <a:off x="0" y="-3"/>
            <a:ext cx="12192000" cy="954457"/>
            <a:chOff x="0" y="-1"/>
            <a:chExt cx="12192000" cy="13591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F5FAEBF-432B-6570-49C7-F1266DF09265}"/>
                </a:ext>
              </a:extLst>
            </p:cNvPr>
            <p:cNvSpPr/>
            <p:nvPr/>
          </p:nvSpPr>
          <p:spPr>
            <a:xfrm>
              <a:off x="0" y="0"/>
              <a:ext cx="12192000" cy="135916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E64BB27B-FBAD-72B1-3093-F6B1A58B08F3}"/>
                </a:ext>
              </a:extLst>
            </p:cNvPr>
            <p:cNvSpPr/>
            <p:nvPr/>
          </p:nvSpPr>
          <p:spPr>
            <a:xfrm rot="10800000">
              <a:off x="5255171" y="0"/>
              <a:ext cx="2459421" cy="1359165"/>
            </a:xfrm>
            <a:prstGeom prst="rtTriangl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CB9CC9B-0744-FF18-64C1-C377662570E6}"/>
                </a:ext>
              </a:extLst>
            </p:cNvPr>
            <p:cNvSpPr/>
            <p:nvPr/>
          </p:nvSpPr>
          <p:spPr>
            <a:xfrm>
              <a:off x="7714594" y="-1"/>
              <a:ext cx="4477406" cy="135916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FB0D1406-4A72-A3E9-9350-934593FFF6FB}"/>
              </a:ext>
            </a:extLst>
          </p:cNvPr>
          <p:cNvSpPr/>
          <p:nvPr/>
        </p:nvSpPr>
        <p:spPr>
          <a:xfrm>
            <a:off x="0" y="6293556"/>
            <a:ext cx="12192000" cy="564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798E18F-2145-C449-AD8A-3573FE3FE555}"/>
              </a:ext>
            </a:extLst>
          </p:cNvPr>
          <p:cNvSpPr txBox="1">
            <a:spLocks/>
          </p:cNvSpPr>
          <p:nvPr/>
        </p:nvSpPr>
        <p:spPr>
          <a:xfrm>
            <a:off x="424495" y="84629"/>
            <a:ext cx="7326217" cy="785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kumimoji="1" lang="zh-CN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26BE2AEF-15DC-C9C8-E672-62988A53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094B-EA27-4D45-A7D9-B9258F83C05D}" type="datetime1">
              <a:rPr kumimoji="1" lang="zh-CN" altLang="en-US" b="1" smtClean="0">
                <a:solidFill>
                  <a:schemeClr val="bg1"/>
                </a:solidFill>
              </a:rPr>
              <a:t>2026/3/23</a:t>
            </a:fld>
            <a:endParaRPr kumimoji="1" lang="zh-CN" altLang="en-US" b="1">
              <a:solidFill>
                <a:schemeClr val="bg1"/>
              </a:solidFill>
            </a:endParaRPr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7C191638-99E8-9B84-2BD0-3DA9DDF9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zh-CN" b="1" dirty="0">
                <a:solidFill>
                  <a:schemeClr val="bg1"/>
                </a:solidFill>
              </a:rPr>
              <a:t>Yuhao Huo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A4F4951B-BED1-77A8-45D8-E29A29633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CE28-C5FF-EE47-9DDA-8002F10F327E}" type="slidenum">
              <a:rPr kumimoji="1" lang="zh-CN" altLang="en-US" b="1" smtClean="0">
                <a:solidFill>
                  <a:schemeClr val="bg1"/>
                </a:solidFill>
              </a:rPr>
              <a:t>12</a:t>
            </a:fld>
            <a:r>
              <a:rPr kumimoji="1" lang="en-US" altLang="zh-CN" b="1" dirty="0">
                <a:solidFill>
                  <a:schemeClr val="bg1"/>
                </a:solidFill>
              </a:rPr>
              <a:t>/12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0BEFD6-77BB-B916-9493-6346349CFE40}"/>
              </a:ext>
            </a:extLst>
          </p:cNvPr>
          <p:cNvSpPr txBox="1"/>
          <p:nvPr/>
        </p:nvSpPr>
        <p:spPr>
          <a:xfrm>
            <a:off x="334964" y="1158332"/>
            <a:ext cx="1152207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[8] Paranhos, L. (2025). Predicting inflation with recurrent neural networks. International Journal of Forecasting. https://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doi.org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/10.1016/j.ijforecast.2024.07.010</a:t>
            </a:r>
          </a:p>
          <a:p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[9] Stock, J. H., \&amp; Watson, M. W. (2007). Why Has U.S. Inflation Become Harder to Forecast? Journal of Money, Credit and Banking, 39(s1), 3–33. https://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doi.org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/10.1111/j.1538-4616.2007.00014.x</a:t>
            </a:r>
          </a:p>
          <a:p>
            <a:endParaRPr lang="en" altLang="zh-CN" sz="1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[10] Stock, J. H., \&amp; Watson, M. W. (2010). Modeling Inflation After the Crisis (Working Paper No. 16488). National Bureau of Economic Research. https://</a:t>
            </a:r>
            <a:r>
              <a:rPr lang="en" altLang="zh-CN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doi.org</a:t>
            </a:r>
            <a:r>
              <a:rPr lang="en" altLang="zh-CN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/10.3386/w16488</a:t>
            </a:r>
          </a:p>
        </p:txBody>
      </p:sp>
    </p:spTree>
    <p:extLst>
      <p:ext uri="{BB962C8B-B14F-4D97-AF65-F5344CB8AC3E}">
        <p14:creationId xmlns:p14="http://schemas.microsoft.com/office/powerpoint/2010/main" val="183349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6"/>
    </mc:Choice>
    <mc:Fallback xmlns="">
      <p:transition spd="slow" advTm="64606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</TotalTime>
  <Words>1506</Words>
  <Application>Microsoft Macintosh PowerPoint</Application>
  <PresentationFormat>宽屏</PresentationFormat>
  <Paragraphs>174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Forecasting Inflation in a Big Data Setting Using Neural Networks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Y. Huo</dc:creator>
  <cp:lastModifiedBy>Y. Huo</cp:lastModifiedBy>
  <cp:revision>10</cp:revision>
  <dcterms:created xsi:type="dcterms:W3CDTF">2026-01-26T12:16:24Z</dcterms:created>
  <dcterms:modified xsi:type="dcterms:W3CDTF">2026-03-23T00:51:56Z</dcterms:modified>
</cp:coreProperties>
</file>